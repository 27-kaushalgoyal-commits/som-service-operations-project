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Gap</c:v>
                </c:pt>
              </c:strCache>
            </c:strRef>
          </c:tx>
          <c:spPr>
            <a:solidFill>
              <a:srgbClr val="2F7B72"/>
            </a:solidFill>
            <a:effectLst/>
          </c:spPr>
          <c:invertIfNegative val="0"/>
          <c:dLbls>
            <c:numFmt formatCode="+0.00;-0.0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A211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F7B7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5533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5533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5533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5533C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Tangibles</c:v>
                  </c:pt>
                  <c:pt idx="1">
                    <c:v>Reliability</c:v>
                  </c:pt>
                  <c:pt idx="2">
                    <c:v>Responsiveness</c:v>
                  </c:pt>
                  <c:pt idx="3">
                    <c:v>Assurance</c:v>
                  </c:pt>
                  <c:pt idx="4">
                    <c:v>Empathy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0.41</c:v>
                </c:pt>
                <c:pt idx="1">
                  <c:v>-0.71</c:v>
                </c:pt>
                <c:pt idx="2">
                  <c:v>-1.28</c:v>
                </c:pt>
                <c:pt idx="3">
                  <c:v>-0.62</c:v>
                </c:pt>
                <c:pt idx="4">
                  <c:v>-0.77</c:v>
                </c:pt>
              </c:numCache>
            </c:numRef>
          </c:val>
        </c:ser>
        <c:dLbls>
          <c:numFmt formatCode="+0.00;-0.00" sourceLinked="0"/>
          <c:txPr>
            <a:bodyPr/>
            <a:lstStyle/>
            <a:p>
              <a:pPr>
                <a:defRPr b="1" i="0" strike="noStrike" sz="1200" u="none">
                  <a:solidFill>
                    <a:srgbClr val="2A211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3D8C4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A211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"/>
          <c:min val="-1.6"/>
        </c:scaling>
        <c:delete val="0"/>
        <c:axPos val="l"/>
        <c:majorGridlines>
          <c:spPr>
            <a:ln w="12700" cap="flat">
              <a:solidFill>
                <a:srgbClr val="E3D8C4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E3D8C4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6B5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Employee Self-Perception</c:v>
                </c:pt>
              </c:strCache>
            </c:strRef>
          </c:tx>
          <c:spPr>
            <a:solidFill>
              <a:srgbClr val="B8923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A211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Tangibles</c:v>
                  </c:pt>
                  <c:pt idx="1">
                    <c:v>Reliability</c:v>
                  </c:pt>
                  <c:pt idx="2">
                    <c:v>Responsiveness</c:v>
                  </c:pt>
                  <c:pt idx="3">
                    <c:v>Assurance</c:v>
                  </c:pt>
                  <c:pt idx="4">
                    <c:v>Empathy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6.3</c:v>
                </c:pt>
                <c:pt idx="1">
                  <c:v>5.9</c:v>
                </c:pt>
                <c:pt idx="2">
                  <c:v>6</c:v>
                </c:pt>
                <c:pt idx="3">
                  <c:v>6.1</c:v>
                </c:pt>
                <c:pt idx="4">
                  <c:v>6.05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Customer Perception</c:v>
                </c:pt>
              </c:strCache>
            </c:strRef>
          </c:tx>
          <c:spPr>
            <a:solidFill>
              <a:srgbClr val="2F7B72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A211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Tangibles</c:v>
                  </c:pt>
                  <c:pt idx="1">
                    <c:v>Reliability</c:v>
                  </c:pt>
                  <c:pt idx="2">
                    <c:v>Responsiveness</c:v>
                  </c:pt>
                  <c:pt idx="3">
                    <c:v>Assurance</c:v>
                  </c:pt>
                  <c:pt idx="4">
                    <c:v>Empathy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6.35</c:v>
                </c:pt>
                <c:pt idx="1">
                  <c:v>5.65</c:v>
                </c:pt>
                <c:pt idx="2">
                  <c:v>5.06</c:v>
                </c:pt>
                <c:pt idx="3">
                  <c:v>5.52</c:v>
                </c:pt>
                <c:pt idx="4">
                  <c:v>5.08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2A211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3D8C4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2A211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.5"/>
          <c:min val="0"/>
        </c:scaling>
        <c:delete val="0"/>
        <c:axPos val="l"/>
        <c:majorGridlines>
          <c:spPr>
            <a:ln w="12700" cap="flat">
              <a:solidFill>
                <a:srgbClr val="E3D8C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E3D8C4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6B5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A211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5EE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oto_entranc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223760" y="0"/>
            <a:ext cx="496519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87184" y="0"/>
            <a:ext cx="36576" cy="6858000"/>
          </a:xfrm>
          <a:prstGeom prst="rect">
            <a:avLst/>
          </a:prstGeom>
          <a:solidFill>
            <a:srgbClr val="2F7B72"/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141732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2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SERVQUAL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40080" y="1828800"/>
            <a:ext cx="6309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EE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Quality Study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640080" y="269748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D9CD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the Gap Between Customer Expectations and Perceptions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40080" y="3520440"/>
            <a:ext cx="457200" cy="27432"/>
          </a:xfrm>
          <a:prstGeom prst="rect">
            <a:avLst/>
          </a:prstGeom>
          <a:solidFill>
            <a:srgbClr val="B5533C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3703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9A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STUDIED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40080" y="3950208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B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Triveni Terrace Café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640080" y="443484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9CD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205, Tansen Marg, Opp. FICCI Auditorium, Mandi House, New Delhi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40080" y="598932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CD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 Saha  •  Ujjal Patro  •  Shanu Kumar  •  Kaushal Goyal  •  Subhranil Das  •  Priya Jhinkwan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40080" y="6327648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9A0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to: Prof. Anirudha Chakrabarty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&amp; About the Café</a:t>
            </a:r>
            <a:endParaRPr lang="en-US" sz="3000" dirty="0"/>
          </a:p>
        </p:txBody>
      </p:sp>
      <p:pic>
        <p:nvPicPr>
          <p:cNvPr id="4" name="Image 0" descr="photo_terrac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52360" y="502920"/>
            <a:ext cx="4114800" cy="5852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52360" y="63550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Triveni Terrace Café — outdoor pergola seating, Mandi House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640080" y="1325880"/>
            <a:ext cx="502920" cy="502920"/>
          </a:xfrm>
          <a:prstGeom prst="ellipse">
            <a:avLst/>
          </a:prstGeom>
          <a:solidFill>
            <a:srgbClr val="3B2A22"/>
          </a:solidFill>
          <a:ln/>
        </p:spPr>
      </p:sp>
      <p:pic>
        <p:nvPicPr>
          <p:cNvPr id="7" name="Image 1" descr="icon_tar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237" y="1439037"/>
            <a:ext cx="276606" cy="27660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25880" y="132588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Study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685800" y="196596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A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SERVQUAL measures the gap between what customers expect from a service and what they actually perceive they received.</a:t>
            </a:r>
            <a:endParaRPr lang="en-US" sz="135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350" dirty="0">
                <a:solidFill>
                  <a:srgbClr val="2A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here to Triveni Terrace Café across the 5 standard service-quality dimensions, comparing customer and employee views.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640080" y="3566160"/>
            <a:ext cx="502920" cy="502920"/>
          </a:xfrm>
          <a:prstGeom prst="ellipse">
            <a:avLst/>
          </a:prstGeom>
          <a:solidFill>
            <a:srgbClr val="B5533C"/>
          </a:solidFill>
          <a:ln/>
        </p:spPr>
      </p:sp>
      <p:pic>
        <p:nvPicPr>
          <p:cNvPr id="11" name="Image 2" descr="icon_coffe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237" y="3679317"/>
            <a:ext cx="276606" cy="27660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25880" y="356616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Triveni Terrace Café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685800" y="4206240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A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Located at Mandi House, New Delhi — opposite the FICCI Auditorium, in the city's arts &amp; theatre precinct.</a:t>
            </a:r>
            <a:endParaRPr lang="en-US" sz="135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A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Rated 4.4/5 on Google from 6,600+ reviews; known for calm, art-adjacent ambience with outdoor terrace seating.</a:t>
            </a:r>
            <a:endParaRPr lang="en-US" sz="135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350" dirty="0">
                <a:solidFill>
                  <a:srgbClr val="2A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customer base: regulars, students, professionals on breaks, and first-time visitors drawn by word of mouth.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Measured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520440" cy="37947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9CDB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88820" y="1737360"/>
            <a:ext cx="822960" cy="822960"/>
          </a:xfrm>
          <a:prstGeom prst="ellipse">
            <a:avLst/>
          </a:prstGeom>
          <a:solidFill>
            <a:srgbClr val="3B2A22"/>
          </a:solidFill>
          <a:ln/>
        </p:spPr>
      </p:sp>
      <p:pic>
        <p:nvPicPr>
          <p:cNvPr id="6" name="Image 0" descr="icon_instru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3986" y="1922526"/>
            <a:ext cx="452628" cy="4526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69748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A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Instrument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960120" y="3246120"/>
            <a:ext cx="288036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A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20-statement SERVQUAL questionnaire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A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statements per dimension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A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7-point Likert scale (1=Strongly Disagree, 7=Strongly Agree)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80560" y="1417320"/>
            <a:ext cx="3520440" cy="37947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9CDB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829300" y="1737360"/>
            <a:ext cx="822960" cy="822960"/>
          </a:xfrm>
          <a:prstGeom prst="ellipse">
            <a:avLst/>
          </a:prstGeom>
          <a:solidFill>
            <a:srgbClr val="2F7B72"/>
          </a:solidFill>
          <a:ln/>
        </p:spPr>
      </p:sp>
      <p:pic>
        <p:nvPicPr>
          <p:cNvPr id="11" name="Image 1" descr="icon_custom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4466" y="1922526"/>
            <a:ext cx="452628" cy="4526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63440" y="269748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A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Sample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4800600" y="3246120"/>
            <a:ext cx="288036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A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respondents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A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of first-time, occasional &amp; regular visitors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A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gender, ages 19-54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A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Rated twice: Expectation + Perception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321040" y="1417320"/>
            <a:ext cx="3520440" cy="379476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9CDB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669780" y="1737360"/>
            <a:ext cx="822960" cy="822960"/>
          </a:xfrm>
          <a:prstGeom prst="ellipse">
            <a:avLst/>
          </a:prstGeom>
          <a:solidFill>
            <a:srgbClr val="B5533C"/>
          </a:solidFill>
          <a:ln/>
        </p:spPr>
      </p:sp>
      <p:pic>
        <p:nvPicPr>
          <p:cNvPr id="16" name="Image 2" descr="icon_employe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4946" y="1922526"/>
            <a:ext cx="452628" cy="45262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03920" y="269748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A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 Sample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8641080" y="3246120"/>
            <a:ext cx="288036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A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respondents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A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Waitstaff, barista, cashier/billing, floor supervisor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A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Tenure: 6-30 months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A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Rated once: self-perception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40080" y="5486400"/>
            <a:ext cx="11201400" cy="777240"/>
          </a:xfrm>
          <a:prstGeom prst="roundRect">
            <a:avLst>
              <a:gd name="adj" fmla="val 9412"/>
            </a:avLst>
          </a:prstGeom>
          <a:solidFill>
            <a:srgbClr val="3B2A22"/>
          </a:solidFill>
          <a:ln/>
        </p:spPr>
      </p:sp>
      <p:sp>
        <p:nvSpPr>
          <p:cNvPr id="20" name="Text 15"/>
          <p:cNvSpPr/>
          <p:nvPr/>
        </p:nvSpPr>
        <p:spPr>
          <a:xfrm>
            <a:off x="822960" y="5486400"/>
            <a:ext cx="10835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E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= Perception − Expectation.   </a:t>
            </a:r>
            <a:pPr algn="ctr" indent="0" marL="0">
              <a:buNone/>
            </a:pPr>
            <a:r>
              <a:rPr lang="en-US" sz="1300" dirty="0">
                <a:solidFill>
                  <a:srgbClr val="D9CD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= service shortfall.   Positive = experience exceeded expectations.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Five SERVQUAL Dimensions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02412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statement in the questionnaire maps to one of these — the framework used throughout this study.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7492" y="1965960"/>
            <a:ext cx="2103120" cy="38404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9CDB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70432" y="2286000"/>
            <a:ext cx="777240" cy="777240"/>
          </a:xfrm>
          <a:prstGeom prst="ellipse">
            <a:avLst/>
          </a:prstGeom>
          <a:solidFill>
            <a:srgbClr val="3B2A22"/>
          </a:solidFill>
          <a:ln/>
        </p:spPr>
      </p:sp>
      <p:pic>
        <p:nvPicPr>
          <p:cNvPr id="7" name="Image 0" descr="icon_tangib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5311" y="2460879"/>
            <a:ext cx="427482" cy="42748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8932" y="32461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Tangibles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90372" y="3840480"/>
            <a:ext cx="1737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A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facilities, decor and appearance of staff.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775204" y="1965960"/>
            <a:ext cx="2103120" cy="38404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9CDB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38144" y="2286000"/>
            <a:ext cx="777240" cy="777240"/>
          </a:xfrm>
          <a:prstGeom prst="ellipse">
            <a:avLst/>
          </a:prstGeom>
          <a:solidFill>
            <a:srgbClr val="3B2A22"/>
          </a:solidFill>
          <a:ln/>
        </p:spPr>
      </p:sp>
      <p:pic>
        <p:nvPicPr>
          <p:cNvPr id="12" name="Image 1" descr="icon_reliabilit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3023" y="2460879"/>
            <a:ext cx="427482" cy="42748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866644" y="32461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Reliability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2958084" y="3840480"/>
            <a:ext cx="1737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A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Delivering the promised service accurately and consistently.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042916" y="1965960"/>
            <a:ext cx="2103120" cy="38404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9CDBC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705856" y="2286000"/>
            <a:ext cx="777240" cy="777240"/>
          </a:xfrm>
          <a:prstGeom prst="ellipse">
            <a:avLst/>
          </a:prstGeom>
          <a:solidFill>
            <a:srgbClr val="3B2A22"/>
          </a:solidFill>
          <a:ln/>
        </p:spPr>
      </p:sp>
      <p:pic>
        <p:nvPicPr>
          <p:cNvPr id="17" name="Image 2" descr="icon_responsivenes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0735" y="2460879"/>
            <a:ext cx="427482" cy="42748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134356" y="32461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Responsiveness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5225796" y="3840480"/>
            <a:ext cx="1737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A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Willingness to help and provide prompt service.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7310628" y="1965960"/>
            <a:ext cx="2103120" cy="38404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9CDBC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973568" y="2286000"/>
            <a:ext cx="777240" cy="777240"/>
          </a:xfrm>
          <a:prstGeom prst="ellipse">
            <a:avLst/>
          </a:prstGeom>
          <a:solidFill>
            <a:srgbClr val="3B2A22"/>
          </a:solidFill>
          <a:ln/>
        </p:spPr>
      </p:sp>
      <p:pic>
        <p:nvPicPr>
          <p:cNvPr id="22" name="Image 3" descr="icon_assuranc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8447" y="2460879"/>
            <a:ext cx="427482" cy="42748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02068" y="32461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Assurance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7493508" y="3840480"/>
            <a:ext cx="1737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A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knowledge and courtesy that inspire trust.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9578340" y="1965960"/>
            <a:ext cx="2103120" cy="38404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9CDBC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10241280" y="2286000"/>
            <a:ext cx="777240" cy="777240"/>
          </a:xfrm>
          <a:prstGeom prst="ellipse">
            <a:avLst/>
          </a:prstGeom>
          <a:solidFill>
            <a:srgbClr val="3B2A22"/>
          </a:solidFill>
          <a:ln/>
        </p:spPr>
      </p:sp>
      <p:pic>
        <p:nvPicPr>
          <p:cNvPr id="27" name="Image 4" descr="icon_empath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16159" y="2460879"/>
            <a:ext cx="427482" cy="42748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669780" y="32461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Empathy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9761220" y="3840480"/>
            <a:ext cx="1737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A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Caring, individualized attention to each customer.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B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EE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Setting Was Never in Question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0241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9CD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Reviewers consistently single out the pergola, jaali walls and terrace greenery — and the data agrees.</a:t>
            </a:r>
            <a:endParaRPr lang="en-US" sz="1300" dirty="0"/>
          </a:p>
        </p:txBody>
      </p:sp>
      <p:pic>
        <p:nvPicPr>
          <p:cNvPr id="5" name="Image 0" descr="photo_terrac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691640"/>
            <a:ext cx="2514600" cy="3200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91640"/>
            <a:ext cx="2514600" cy="3200400"/>
          </a:xfrm>
          <a:prstGeom prst="rect">
            <a:avLst/>
          </a:prstGeom>
          <a:ln w="19050">
            <a:solidFill>
              <a:srgbClr val="2F7B72"/>
            </a:solidFill>
            <a:prstDash val="solid"/>
          </a:ln>
        </p:spPr>
      </p:sp>
      <p:pic>
        <p:nvPicPr>
          <p:cNvPr id="7" name="Image 1" descr="photo_courtyard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383280" y="1691640"/>
            <a:ext cx="2514600" cy="32004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383280" y="1691640"/>
            <a:ext cx="2514600" cy="3200400"/>
          </a:xfrm>
          <a:prstGeom prst="rect">
            <a:avLst/>
          </a:prstGeom>
          <a:ln w="19050">
            <a:solidFill>
              <a:srgbClr val="2F7B72"/>
            </a:solidFill>
            <a:prstDash val="solid"/>
          </a:ln>
        </p:spPr>
      </p:sp>
      <p:pic>
        <p:nvPicPr>
          <p:cNvPr id="9" name="Image 2" descr="photo_entrance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126480" y="1691640"/>
            <a:ext cx="2514600" cy="320040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6126480" y="1691640"/>
            <a:ext cx="2514600" cy="3200400"/>
          </a:xfrm>
          <a:prstGeom prst="rect">
            <a:avLst/>
          </a:prstGeom>
          <a:ln w="19050">
            <a:solidFill>
              <a:srgbClr val="2F7B72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8869680" y="1691640"/>
            <a:ext cx="2679192" cy="3200400"/>
          </a:xfrm>
          <a:prstGeom prst="roundRect">
            <a:avLst>
              <a:gd name="adj" fmla="val 3413"/>
            </a:avLst>
          </a:prstGeom>
          <a:solidFill>
            <a:srgbClr val="2F7B72"/>
          </a:solidFill>
          <a:ln/>
        </p:spPr>
      </p:sp>
      <p:sp>
        <p:nvSpPr>
          <p:cNvPr id="12" name="Text 7"/>
          <p:cNvSpPr/>
          <p:nvPr/>
        </p:nvSpPr>
        <p:spPr>
          <a:xfrm>
            <a:off x="8869680" y="2148840"/>
            <a:ext cx="26791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EE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+0.41</a:t>
            </a:r>
            <a:endParaRPr lang="en-US" sz="3400" dirty="0"/>
          </a:p>
        </p:txBody>
      </p:sp>
      <p:sp>
        <p:nvSpPr>
          <p:cNvPr id="13" name="Text 8"/>
          <p:cNvSpPr/>
          <p:nvPr/>
        </p:nvSpPr>
        <p:spPr>
          <a:xfrm>
            <a:off x="8869680" y="2926080"/>
            <a:ext cx="2679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5E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TANGIBLES GAP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9006840" y="3383280"/>
            <a:ext cx="240487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7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dimension where perception exceeded expectation.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640080" y="51663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D9CD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Ambience is a genuine competitive strength — and a differentiator worth protecting as service on other dimensions is improved.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Dimension-Wise Gap Summary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881360" cy="3291840"/>
        </p:xfrm>
        <a:graphic>
          <a:graphicData uri="http://schemas.openxmlformats.org/drawingml/2006/table">
            <a:tbl>
              <a:tblPr/>
              <a:tblGrid>
                <a:gridCol w="3108960"/>
                <a:gridCol w="1920240"/>
                <a:gridCol w="1920240"/>
                <a:gridCol w="1920240"/>
                <a:gridCol w="2011680"/>
              </a:tblGrid>
              <a:tr h="4702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5EEE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A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5EEE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5EEE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A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5EEE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5EEE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Perception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A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5EEE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5EEE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 − 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A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5EEE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5EEE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Self-Perception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A22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A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Tangibles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A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5.94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A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F7B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+0.41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A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A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Reliability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A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A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55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-0.71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A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5.90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A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Responsiveness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A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A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55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-1.28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A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A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Assurance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A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A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55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-0.62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A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A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Empathy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A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A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55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-0.77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A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A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A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A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55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-0.59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A21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8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3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846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A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figures are mean scores on a 1-7 scale (30 customers, 5 employees). Gap = Perception − Expectation.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640080" y="539496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3B2A22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5394960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read:  </a:t>
            </a:r>
            <a:pPr indent="0" marL="0">
              <a:buNone/>
            </a:pPr>
            <a:r>
              <a:rPr lang="en-US" sz="1300" dirty="0">
                <a:solidFill>
                  <a:srgbClr val="F5E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dimension except Tangibles shows customers receiving less than they expect — and employees rating themselves higher than customers experience them, on every single dimension.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 by Dimension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 minus Expectation, by dimension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1554480"/>
          <a:ext cx="108813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5989320"/>
            <a:ext cx="10881360" cy="594360"/>
          </a:xfrm>
          <a:prstGeom prst="roundRect">
            <a:avLst>
              <a:gd name="adj" fmla="val 12308"/>
            </a:avLst>
          </a:prstGeom>
          <a:solidFill>
            <a:srgbClr val="EDE4D3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5989320"/>
            <a:ext cx="10424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A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Responsiveness is the widest and most urgent gap (-1.28), nearly double the next-largest shortfall.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Staff Think They're Doing Better Than Customers Feel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self-perception vs. actual customer perception, by dimension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1600200"/>
          <a:ext cx="108813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580644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3B2A22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580644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9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pPr indent="0" marL="0">
              <a:buNone/>
            </a:pPr>
            <a:r>
              <a:rPr lang="en-US" sz="1250" dirty="0">
                <a:solidFill>
                  <a:srgbClr val="F5E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internal-external gap averages +0.54 pts and peaks in Empathy (+0.97) and Responsiveness (+0.94) — staff overestimate their own warmth and speed the most.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Gap Commentary — At a Glance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1088136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D9CDB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362456"/>
            <a:ext cx="548640" cy="548640"/>
          </a:xfrm>
          <a:prstGeom prst="ellipse">
            <a:avLst/>
          </a:prstGeom>
          <a:solidFill>
            <a:srgbClr val="2F7B72"/>
          </a:solidFill>
          <a:ln/>
        </p:spPr>
      </p:sp>
      <p:pic>
        <p:nvPicPr>
          <p:cNvPr id="6" name="Image 0" descr="icon_tangib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" y="1485900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234440"/>
            <a:ext cx="2103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Tangibles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749040" y="1234440"/>
            <a:ext cx="10972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+0.41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029200" y="1234440"/>
            <a:ext cx="6309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Decor, greenery and outdoor seating consistently praised by customers.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2176272"/>
            <a:ext cx="1088136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D9CDB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68680" y="2304288"/>
            <a:ext cx="548640" cy="548640"/>
          </a:xfrm>
          <a:prstGeom prst="ellipse">
            <a:avLst/>
          </a:prstGeom>
          <a:solidFill>
            <a:srgbClr val="B5533C"/>
          </a:solidFill>
          <a:ln/>
        </p:spPr>
      </p:sp>
      <p:pic>
        <p:nvPicPr>
          <p:cNvPr id="12" name="Image 1" descr="icon_reliabilit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" y="2427732"/>
            <a:ext cx="301752" cy="3017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45920" y="2176272"/>
            <a:ext cx="2103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Reliability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749040" y="2176272"/>
            <a:ext cx="10972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55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-0.71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5029200" y="2176272"/>
            <a:ext cx="6309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split between 'excellent' and 'average' for the same dishes — kitchen consistency varies.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40080" y="3118104"/>
            <a:ext cx="1088136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D9CDBC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68680" y="3246120"/>
            <a:ext cx="548640" cy="548640"/>
          </a:xfrm>
          <a:prstGeom prst="ellipse">
            <a:avLst/>
          </a:prstGeom>
          <a:solidFill>
            <a:srgbClr val="B5533C"/>
          </a:solidFill>
          <a:ln/>
        </p:spPr>
      </p:sp>
      <p:pic>
        <p:nvPicPr>
          <p:cNvPr id="18" name="Image 2" descr="icon_responsivenes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" y="3369564"/>
            <a:ext cx="301752" cy="30175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45920" y="3118104"/>
            <a:ext cx="2103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Responsiveness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3749040" y="3118104"/>
            <a:ext cx="10972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55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-1.28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5029200" y="3118104"/>
            <a:ext cx="6309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attentiveness drops noticeably once the cafe gets busy — the top priority to fix.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640080" y="4059936"/>
            <a:ext cx="1088136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D9CDBC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868680" y="4187952"/>
            <a:ext cx="548640" cy="548640"/>
          </a:xfrm>
          <a:prstGeom prst="ellipse">
            <a:avLst/>
          </a:prstGeom>
          <a:solidFill>
            <a:srgbClr val="B5533C"/>
          </a:solidFill>
          <a:ln/>
        </p:spPr>
      </p:sp>
      <p:pic>
        <p:nvPicPr>
          <p:cNvPr id="24" name="Image 3" descr="icon_assuranc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" y="4311396"/>
            <a:ext cx="301752" cy="30175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645920" y="4059936"/>
            <a:ext cx="2103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Assurance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3749040" y="4059936"/>
            <a:ext cx="10972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55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-0.62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5029200" y="4059936"/>
            <a:ext cx="6309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feel safe, but courtesy and product knowledge vary from staff member to staff member.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640080" y="5001768"/>
            <a:ext cx="1088136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D9CDBC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868680" y="5129784"/>
            <a:ext cx="548640" cy="548640"/>
          </a:xfrm>
          <a:prstGeom prst="ellipse">
            <a:avLst/>
          </a:prstGeom>
          <a:solidFill>
            <a:srgbClr val="B5533C"/>
          </a:solidFill>
          <a:ln/>
        </p:spPr>
      </p:sp>
      <p:pic>
        <p:nvPicPr>
          <p:cNvPr id="30" name="Image 4" descr="icon_empath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124" y="5253228"/>
            <a:ext cx="301752" cy="30175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645920" y="5001768"/>
            <a:ext cx="2103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Empathy</a:t>
            </a:r>
            <a:endParaRPr lang="en-US" sz="1500" dirty="0"/>
          </a:p>
        </p:txBody>
      </p:sp>
      <p:sp>
        <p:nvSpPr>
          <p:cNvPr id="32" name="Text 25"/>
          <p:cNvSpPr/>
          <p:nvPr/>
        </p:nvSpPr>
        <p:spPr>
          <a:xfrm>
            <a:off x="3749040" y="5001768"/>
            <a:ext cx="10972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55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-0.77</a:t>
            </a:r>
            <a:endParaRPr lang="en-US" sz="1500" dirty="0"/>
          </a:p>
        </p:txBody>
      </p:sp>
      <p:sp>
        <p:nvSpPr>
          <p:cNvPr id="33" name="Text 26"/>
          <p:cNvSpPr/>
          <p:nvPr/>
        </p:nvSpPr>
        <p:spPr>
          <a:xfrm>
            <a:off x="5029200" y="5001768"/>
            <a:ext cx="6309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reads as efficient, but not especially warm or personalized.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Recommendations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5257800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19050">
            <a:solidFill>
              <a:srgbClr val="B553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4173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55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FIXES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" y="1920240"/>
            <a:ext cx="548640" cy="548640"/>
          </a:xfrm>
          <a:prstGeom prst="ellipse">
            <a:avLst/>
          </a:prstGeom>
          <a:solidFill>
            <a:srgbClr val="B5533C"/>
          </a:solidFill>
          <a:ln/>
        </p:spPr>
      </p:sp>
      <p:pic>
        <p:nvPicPr>
          <p:cNvPr id="7" name="Image 0" descr="icon_responsiven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" y="2043684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189280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Responsiveness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600200" y="2212848"/>
            <a:ext cx="4160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7A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Table-side check-in within 5-7 minutes of delivery; add a simple call-for-attention signal at peak hours.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914400" y="3291840"/>
            <a:ext cx="548640" cy="548640"/>
          </a:xfrm>
          <a:prstGeom prst="ellipse">
            <a:avLst/>
          </a:prstGeom>
          <a:solidFill>
            <a:srgbClr val="B5533C"/>
          </a:solidFill>
          <a:ln/>
        </p:spPr>
      </p:sp>
      <p:pic>
        <p:nvPicPr>
          <p:cNvPr id="11" name="Image 1" descr="icon_empath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" y="341528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326440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Empathy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600200" y="3584448"/>
            <a:ext cx="4160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7A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staff to recognize and acknowledge repeat customers; encourage brief, genuine conversation.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914400" y="4663440"/>
            <a:ext cx="548640" cy="548640"/>
          </a:xfrm>
          <a:prstGeom prst="ellipse">
            <a:avLst/>
          </a:prstGeom>
          <a:solidFill>
            <a:srgbClr val="B5533C"/>
          </a:solidFill>
          <a:ln/>
        </p:spPr>
      </p:sp>
      <p:pic>
        <p:nvPicPr>
          <p:cNvPr id="15" name="Image 2" descr="icon_assuran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" y="4786884"/>
            <a:ext cx="301752" cy="30175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00200" y="463600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Assurance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1600200" y="4956048"/>
            <a:ext cx="4160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7A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a short menu / ingredient / allergen briefing for all customer-facing staff.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172200" y="1234440"/>
            <a:ext cx="5349240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19050">
            <a:solidFill>
              <a:srgbClr val="2F7B72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6446520" y="14173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&amp; REINFORCE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446520" y="1920240"/>
            <a:ext cx="548640" cy="548640"/>
          </a:xfrm>
          <a:prstGeom prst="ellipse">
            <a:avLst/>
          </a:prstGeom>
          <a:solidFill>
            <a:srgbClr val="2F7B72"/>
          </a:solidFill>
          <a:ln/>
        </p:spPr>
      </p:sp>
      <p:pic>
        <p:nvPicPr>
          <p:cNvPr id="21" name="Image 3" descr="icon_tangible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9964" y="2043684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32320" y="189280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Tangibles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132320" y="2212848"/>
            <a:ext cx="4251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7A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current ambience and decor standards — a genuine, proven differentiator.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6446520" y="3291840"/>
            <a:ext cx="548640" cy="548640"/>
          </a:xfrm>
          <a:prstGeom prst="ellipse">
            <a:avLst/>
          </a:prstGeom>
          <a:solidFill>
            <a:srgbClr val="2F7B72"/>
          </a:solidFill>
          <a:ln/>
        </p:spPr>
      </p:sp>
      <p:pic>
        <p:nvPicPr>
          <p:cNvPr id="25" name="Image 4" descr="icon_reliabilit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9964" y="3415284"/>
            <a:ext cx="301752" cy="30175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132320" y="326440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Reliability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7132320" y="3584448"/>
            <a:ext cx="4251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7A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a kitchen quality checklist to reduce dish-to-dish inconsistency for high-volume items.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6446520" y="4663440"/>
            <a:ext cx="548640" cy="548640"/>
          </a:xfrm>
          <a:prstGeom prst="ellipse">
            <a:avLst/>
          </a:prstGeom>
          <a:solidFill>
            <a:srgbClr val="2F7B72"/>
          </a:solidFill>
          <a:ln/>
        </p:spPr>
      </p:sp>
      <p:pic>
        <p:nvPicPr>
          <p:cNvPr id="29" name="Image 5" descr="icon_sync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9964" y="4786884"/>
            <a:ext cx="301752" cy="30175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7132320" y="463600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Internal Alignment</a:t>
            </a:r>
            <a:endParaRPr lang="en-US" sz="1400" dirty="0"/>
          </a:p>
        </p:txBody>
      </p:sp>
      <p:sp>
        <p:nvSpPr>
          <p:cNvPr id="31" name="Text 23"/>
          <p:cNvSpPr/>
          <p:nvPr/>
        </p:nvSpPr>
        <p:spPr>
          <a:xfrm>
            <a:off x="7132320" y="4956048"/>
            <a:ext cx="4251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7A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customer perception data with staff on a regular cadence to close the self-perception gap.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B2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85800"/>
            <a:ext cx="640080" cy="640080"/>
          </a:xfrm>
          <a:prstGeom prst="ellipse">
            <a:avLst/>
          </a:prstGeom>
          <a:solidFill>
            <a:srgbClr val="2F7B72"/>
          </a:solidFill>
          <a:ln/>
        </p:spPr>
      </p:sp>
      <p:pic>
        <p:nvPicPr>
          <p:cNvPr id="3" name="Image 0" descr="icon_quo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84582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46304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EE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Setting Delivers — The Service Needs to Catch Up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790956" y="2788920"/>
            <a:ext cx="3291840" cy="1737360"/>
          </a:xfrm>
          <a:prstGeom prst="roundRect">
            <a:avLst>
              <a:gd name="adj" fmla="val 4211"/>
            </a:avLst>
          </a:prstGeom>
          <a:solidFill>
            <a:srgbClr val="4E382C"/>
          </a:solidFill>
          <a:ln/>
        </p:spPr>
      </p:sp>
      <p:sp>
        <p:nvSpPr>
          <p:cNvPr id="6" name="Text 3"/>
          <p:cNvSpPr/>
          <p:nvPr/>
        </p:nvSpPr>
        <p:spPr>
          <a:xfrm>
            <a:off x="790956" y="297180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F7B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+0.41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90956" y="37490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9CD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Tangibles</a:t>
            </a:r>
            <a:endParaRPr lang="en-US" sz="12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9CD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(best dimension)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448556" y="2788920"/>
            <a:ext cx="3291840" cy="1737360"/>
          </a:xfrm>
          <a:prstGeom prst="roundRect">
            <a:avLst>
              <a:gd name="adj" fmla="val 4211"/>
            </a:avLst>
          </a:prstGeom>
          <a:solidFill>
            <a:srgbClr val="4E382C"/>
          </a:solidFill>
          <a:ln/>
        </p:spPr>
      </p:sp>
      <p:sp>
        <p:nvSpPr>
          <p:cNvPr id="9" name="Text 6"/>
          <p:cNvSpPr/>
          <p:nvPr/>
        </p:nvSpPr>
        <p:spPr>
          <a:xfrm>
            <a:off x="4448556" y="297180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2E4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-0.59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4448556" y="37490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9CD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SERVQUAL</a:t>
            </a:r>
            <a:endParaRPr lang="en-US" sz="12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9CD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score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106156" y="2788920"/>
            <a:ext cx="3291840" cy="1737360"/>
          </a:xfrm>
          <a:prstGeom prst="roundRect">
            <a:avLst>
              <a:gd name="adj" fmla="val 4211"/>
            </a:avLst>
          </a:prstGeom>
          <a:solidFill>
            <a:srgbClr val="4E382C"/>
          </a:solidFill>
          <a:ln/>
        </p:spPr>
      </p:sp>
      <p:sp>
        <p:nvSpPr>
          <p:cNvPr id="12" name="Text 9"/>
          <p:cNvSpPr/>
          <p:nvPr/>
        </p:nvSpPr>
        <p:spPr>
          <a:xfrm>
            <a:off x="8106156" y="297180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55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-1.28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8106156" y="37490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9CD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Responsiveness</a:t>
            </a:r>
            <a:endParaRPr lang="en-US" sz="12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D9CD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(top priority)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97280" y="5029200"/>
            <a:ext cx="9966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500" i="1" dirty="0">
                <a:solidFill>
                  <a:srgbClr val="D9CD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employees consistently rate their own service delivery more favorably than customers experience it, closing this gap needs better customer-staff feedback loops — not just new procedures.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SERVQUAL Study  •  Triveni Terrace Café  •  Group Project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2026-09-12T16:50:51Z</dcterms:created>
  <dcterms:modified xsi:type="dcterms:W3CDTF">2026-09-12T16:50:51Z</dcterms:modified>
</cp:coreProperties>
</file>